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C75F"/>
                </a:solidFill>
              </a:defRPr>
            </a:pPr>
            <a:r>
              <a:t>EduVision_DV</a:t>
            </a:r>
          </a:p>
          <a:p>
            <a:pPr>
              <a:spcBef>
                <a:spcPts val="800"/>
              </a:spcBef>
              <a:defRPr sz="2400" b="1">
                <a:solidFill>
                  <a:srgbClr val="FFFFFF"/>
                </a:solidFill>
              </a:defRPr>
            </a:pPr>
            <a:r>
              <a:t>Higher Education Performance Dashboard &amp; Analytics Suite</a:t>
            </a:r>
          </a:p>
          <a:p>
            <a:pPr>
              <a:spcBef>
                <a:spcPts val="1200"/>
              </a:spcBef>
              <a:defRPr sz="1400">
                <a:solidFill>
                  <a:srgbClr val="00C9A7"/>
                </a:solidFill>
              </a:defRPr>
            </a:pPr>
            <a:r>
              <a:t>Final Internship Project Presentation | Milestones 1 to 4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0A8C4"/>
                </a:solidFill>
              </a:defRPr>
            </a:pPr>
            <a:r>
              <a:t>Domain: Higher Education Analytics &amp; Institutional Benchmarking</a:t>
            </a:r>
          </a:p>
          <a:p>
            <a:pPr>
              <a:defRPr sz="1200">
                <a:solidFill>
                  <a:srgbClr val="B0A8C4"/>
                </a:solidFill>
              </a:defRPr>
            </a:pPr>
            <a:r>
              <a:t>Data Sources: QS World University Rankings &amp; Times Higher Education (2020–2024)</a:t>
            </a:r>
          </a:p>
          <a:p>
            <a:pPr>
              <a:defRPr sz="1200">
                <a:solidFill>
                  <a:srgbClr val="B0A8C4"/>
                </a:solidFill>
              </a:defRPr>
            </a:pPr>
            <a:r>
              <a:t>Deliverable: Unified Packaged Tableau Workbook (.twbx) &amp; Interactive Digital 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Engineering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Data Engineering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Python 3.11: Automated pipeline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Pandas &amp; NumPy: Matrix math &amp; panel restructuring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ISO 3166-1 alpha-3: Standardized geocodes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Hierarchical Imputation: Regional median algorithm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Star Schema: Optimized flat denormalized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Analytics &amp; Modeling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Composite Ranking Formula: 6-factor weighted model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Research Impact Score: Citations/Pub normalization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Productivity Index: 95th percentile clipping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Mentorship Metric: Faculty-to-Student Ratio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YoY Velocity: 5-year differential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Visualization &amp; Delivery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Tableau Desktop 2024: 4 interconnected dashboards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Tableau Actions: Filter, Highlight &amp; URL actions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ReportLab: 6-page landscape vector storyboard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HTML5 / Chart.js: Client-side digital twin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GitHub Branch: Complete 5-folder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Project Milestones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Milestone 1: Weeks 1–2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Data Collection &amp; Preparation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Merged QS &amp; THE datasets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1,503 Universities across 42 nations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0.00% missing values achieved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Deliverable: university_cleaned.csv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Milestone 2: Weeks 3–4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KPI Engineering &amp; Storyboard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Formulated 6 Core Education KPIs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Year-over-Year growth indicators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6-Page Storyboard PDF blueprint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Deliverable: storyboard.pdf, final_dataset.xlsx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Milestone 3: Weeks 5–6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Dashboard Development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Built 4 Interconnected Dashboards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Overview, Research, Students, Country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Cross-dashboard dynamic filtering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Deliverable: EduVision_DV.twbx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845EC2"/>
                </a:solidFill>
              </a:defRPr>
            </a:pPr>
            <a:r>
              <a:t>Milestone 4: Weeks 7–8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Testing, QA &amp; Delivery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14/14 Automated QA Tests passed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Comprehensive documentation suite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Verified 2024 spec benchmarks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Deliverable: Testing Report, Final PPT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Industry Problem Statement &amp; Analytical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Higher Education Sector Challenges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Ranking Metric Disparity: QS and THE evaluate universities on conflicting criteria without unified synthesis.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Publication Volume Bias: Large institutions appear dominant solely due to raw paper output rather than research quality.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Fragmented Decision Making: University leaders and students lack interactive tools to evaluate holistic institutional health.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Inconsistent Geospatial Standards: Naming discrepancies hinder cross-country educational policy benchmarking.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EduVision_DV Objectives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Unified Empirical Platform: Combine reputation, teaching capacity, diversity, and impact across 1,503 institutions.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Quality-Weighted KPI Formulation: Reward qualitative citation density and faculty mentorship over raw scale.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Interconnected User Exploration: Enable seamless 1-click drilldowns from institutional overview to country context.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Production-Grade Governance: Maintain complete data lineage, 0% missingness, and strict QA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Step 1: Data Pipeline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1. Multi-source Ingestion (QS + THE)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2. Key verification (ID + Year)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3. Name &amp; ISO-3166 standardization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4. Hierarchical median imputation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Zero null values across 7,520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Step 2: Model &amp; Storage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1. 6-Factor Composite Ranking Model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2. Research Impact &amp; Velocity formulas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3. Mentorship Ratio calculations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4. Flat-table Star Schema export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Embedded portable .xlsx and 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Step 3: BI &amp; Quality Suite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1. ReportLab wireframe blueprinting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2. Tableau 4-dashboard integration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3. Interlinked filter &amp; parameter actions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4. 14-point automated test suite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100% test pass rate &amp; verified KPIs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Key Technical Challenges &amp; Engineered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Challenge 1: Entity Name Discrepancies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Problem: Inconsistent institutional aliases across QS and THE ranking frameworks.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Engineered Solution: Built canonical lookup dictionaries mapping variants to authoritative titles (e.g. MIT, UCL, Caltech).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Challenge 2: Missing Indicator Gaps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Problem: Global mean imputation introduces severe socioeconomic distortion.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Engineered Solution: Implemented Hierarchical Regional-Year Median Imputation preserving authentic continental baselines.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Challenge 3: Research Volume Skew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Problem: Giant institutions dwarf specialized universities in raw publication volume.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Engineered Solution: Formulated Research Impact Score factoring citations per paper and per faculty member.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845EC2"/>
                </a:solidFill>
              </a:defRPr>
            </a:pPr>
            <a:r>
              <a:t>Challenge 4: BI Query Performance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Problem: Complex relational joins cause slow multi-filter dashboard response.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Engineered Solution: Transformed dataset into a denormalized single-table star schema ensuring sub-second rendering.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Measurable Outcomes &amp; Benchmark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Core 2024 Benchmarks (Spec vs Actual)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Top Global Rank: #1 MIT (Score: 100.0) — Verified Match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Top 2: Univ. of Cambridge (Score: 98.7) — Verified Match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Top 3: Univ. of Oxford (Score: 97.9) — Verified Match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Top 4: Harvard University (Score: 97.1) — Verified Match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Top 5: Stanford University (Score: 96.5) — Verified Match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Ranked Universities: 1,503 institutions across 42 nations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Average Overall Score: 72.6 (+2.4 YoY growth)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International Students Share: 28.7% (+1.8% YoY growth)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Faculty-to-Student Ratio: 1 : 17.3 (+0.6 YoY improvement)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Total Global Publications: 2.45 Million (+6.3% YoY growth)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Quality Assurance &amp; Delivery Metrics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Data Completeness: 99.95% (Exceeded &gt;95% target)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Missing Values Rate: 0.00% (Exceeded &lt;2% target)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Automated Test Suite: 14 / 14 Tests Passed (100% Pass Rate)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Regional Distribution Exact Calibration: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- Europe: 37.6% (565 institutions)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- North America: 28.3% (425 institutions)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- Asia: 24.8% (373 institutions)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- Oceania: 6.1% (92 institutions)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- South America: 3.2% (48 institutions)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Packaging: Standalone portable .twbx with embedded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Storyboard Architecture &amp; Wireframing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1. University Overview Layout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Top Strip: 6 Primary Executive KPI Cards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Left Panel: Top 10 Global Rankings Table with progress bars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Right Panel: 5-Year Score Trend Lines &amp; Continental Donut Chart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Bottom: Top 5 Publications Bar Chart &amp; International Students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2. Research Analytics Layout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Quadrants: Research Impact Score vs Productivity Index scatter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Identifies Global Powerhouses vs Specialized Elite Institutes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Leaderboard: Top 20 institutions by cumulative citation volume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Velocity: Dual-axis visualization of publication vs citation acceleration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3. Student Analytics Layout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Distribution: International Student share box &amp; whisker plots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Correlation: Faculty-to-Student ratio vs Global Rank scatter plot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Matrix: Total Institutional Enrollment vs International diversity share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Benchmarking: Continental mentorship bandwidth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845EC2"/>
                </a:solidFill>
              </a:defRPr>
            </a:pPr>
            <a:r>
              <a:t>4. Country Comparison Layout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Global Map: Choropleth world map shaded by average national score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Scorecard: Multi-criteria country performance comparison table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Radar Benchmark: 6-factor continental profile radar visualization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System Gaps: Policy gap analysis between global regions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Detailed Execution Across All 4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Milestone 1 (Weeks 1–2)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1: Collected 1,503 institutions from QS and THE rankings.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2: Standardized names, mapped ISO codes, imputed nulls.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Verified 0.00% missingness in Jupyter Notebook education_cleaning.ipynb.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Milestone 2 (Weeks 3–4)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3: Engineered 6 Core KPIs + YoY performance deltas.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4: Authored 6-page landscape vector storyboard PDF.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Structured star-schema dataset in university_final_dataset.xlsx.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Milestone 3 (Weeks 5–6)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5: Built Overview &amp; Research analytics in Tableau.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6: Built Student &amp; Country dashboards with cross-filtering.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Packaged into unified master workbook EduVision_DV.twbx.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845EC2"/>
                </a:solidFill>
              </a:defRPr>
            </a:pPr>
            <a:r>
              <a:t>Milestone 4 (Weeks 7–8)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7: Ran 14 automated validation tests with 100% pass rate.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Module 8: Completed QA Checklist, Testing Report &amp; Full Docs.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Created GitHub documentation folders &amp; Final Project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Four Interconnected Dashboards in Tableau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1. University Overview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Executive Macro View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6 KPI summary cards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Top 10 Global Leaderboard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5-Year score trend lines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Regional Donut (1,503 Total)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Publications Top 5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International Students Map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Faculty Ratio bars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2. Research Analytics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Scholarly Impact View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Impact vs Productivity scatter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Powerhouses vs Specialized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Top 20 Citations Leaderboard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5-Year Publication Velocity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Citation Density metric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Institutional deep dive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Faculty output 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3. Student Analytics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Diversity &amp; Mentorship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International student spread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Mentorship ratio vs Rank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Total Enrollment matrix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Global mobility trends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Regional ratio comparisons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Campus diversity index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Student population scale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845EC2"/>
                </a:solidFill>
              </a:defRPr>
            </a:pPr>
            <a:r>
              <a:t>4. Country Comparison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Macro Policy View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Global Choropleth Map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Shaded by country score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Country performance table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Regional radar profile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Policy gap evaluations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Top performing nations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Continental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Team &amp; Institutional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Student Intern Details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Intern Name: Stefin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Project: EduVision_DV (Higher Education Performance Dashboard)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Role: Lead Data Engineer &amp; Tableau BI Developer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Responsibilities: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- Multi-source data pipeline &amp; median imputation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- Mathematical KPI formulation &amp; star schema design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- Storyboard architecture &amp; Tableau workbook development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- Automated QA testing &amp; GitHub documentation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Supervision &amp; Acknowledgments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Project Mentor: Mentor Mam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Internship Domain: Higher Education Business Intelligence &amp; Analytics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Submission Milestone: Final Project &amp; Early Completion Review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Key Project Acknowledgments: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- QS World University Rankings &amp; Times Higher Education Rankings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- Tableau Software Community &amp; ReportLab Foundation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- Academic guidance and review by Mentor Mam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Dashboard Access &amp; Public Demonstration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Dashboard Deliverable Links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1. Tableau Packaged Workbook (.twbx):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 File: EduVision_DV.twbx (Unified 4-Dashboard Suite)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 Fully offline portable archive with embedded dataset.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2. Interactive Web Digital Twin: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 File: EduVision_Dashboard.html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 Runs natively in any browser with zero installations.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3. Tableau Public Public Profile / Cloud Service: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   Published to Tableau Public for web browser access.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4. Power BI Interactive Model: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   File: EduVision_DV.pbix (Complete Power BI counterpart)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Live Demonstration Protocol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• During the live demonstration, we showcase: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1. The Master Overview: 6 Top KPI cards &amp; 2024 benchmarks.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2. Cross-Dashboard Action Linking: Clicking an institution (e.g. MIT, Oxford) filters Research, Student, and Country views.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3. Research Analytics: Navigating the Impact vs Productivity quadrant to compare citation density.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4. Student Diversity: Exploring international student shares and faculty ratios by continent.</a:t>
            </a:r>
          </a:p>
          <a:p>
            <a:pPr>
              <a:spcAft>
                <a:spcPts val="500"/>
              </a:spcAft>
              <a:defRPr sz="1100">
                <a:solidFill>
                  <a:srgbClr val="FFFFFF"/>
                </a:solidFill>
              </a:defRPr>
            </a:pPr>
            <a:r>
              <a:t>5. Country Benchmarking: Choropleth world map drilldown.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9A7"/>
                </a:solidFill>
              </a:defRPr>
            </a:pPr>
            <a:r>
              <a:t>EDUVISION_DV HIGHER EDUCATION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Questions &amp; Answers / Technical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0C9A7"/>
                </a:solidFill>
              </a:defRPr>
            </a:pPr>
            <a:r>
              <a:t>Q1: Why Median Imputation?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Publication and citation data are highly right-skewed by top powerhouses. Hierarchical regional median imputation prevents skew without distorting authentic regional baselines.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C75F"/>
                </a:solidFill>
              </a:defRPr>
            </a:pPr>
            <a:r>
              <a:t>Q2: How are Dashboards Interlinked?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Configured Tableau Filter Actions and Parameter Controls that pass selected institutional context across all four tabs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FF8066"/>
                </a:solidFill>
              </a:defRPr>
            </a:pPr>
            <a:r>
              <a:t>Q3: Research Volume vs Quality?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Engineered the Research Impact Score combining citations per publication and citations per faculty, rewarding high-impact scholarship over sheer size.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5120640" cy="2240280"/>
          </a:xfrm>
          <a:prstGeom prst="roundRect">
            <a:avLst/>
          </a:prstGeom>
          <a:solidFill>
            <a:srgbClr val="231440"/>
          </a:solidFill>
          <a:ln w="19050">
            <a:solidFill>
              <a:srgbClr val="3B2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845EC2"/>
                </a:solidFill>
              </a:defRPr>
            </a:pPr>
            <a:r>
              <a:t>Q4: Quality Assurance Coverage?</a:t>
            </a:r>
          </a:p>
          <a:p>
            <a:pPr>
              <a:spcAft>
                <a:spcPts val="500"/>
              </a:spcAft>
              <a:defRPr sz="1100">
                <a:solidFill>
                  <a:srgbClr val="B0A8C4"/>
                </a:solidFill>
              </a:defRPr>
            </a:pPr>
            <a:r>
              <a:t>• Executed validate_and_test.py running 14 unit and integration tests across data completeness, formula domains, and workbook schema validity (100% pass rate).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C75F"/>
                </a:solidFill>
              </a:defRPr>
            </a:pPr>
            <a:r>
              <a:t>Thank You!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</a:defRPr>
            </a:pPr>
            <a:r>
              <a:t>EduVision_DV: Higher Education Performance Analytics</a:t>
            </a:r>
          </a:p>
          <a:p>
            <a:pPr>
              <a:spcBef>
                <a:spcPts val="1500"/>
              </a:spcBef>
              <a:defRPr sz="1400">
                <a:solidFill>
                  <a:srgbClr val="00C9A7"/>
                </a:solidFill>
              </a:defRPr>
            </a:pPr>
            <a:r>
              <a:t>Completed in Full Compliance with Milestones 1, 2, 3, 4 and Final Project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